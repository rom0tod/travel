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97316"/>
                </a:solidFill>
                <a:latin typeface="Calibri"/>
              </a:rPr>
              <a:t>ЯНДЕКС ЛИЦЕЙ · WEBSERVER + REST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FFFFFF"/>
                </a:solidFill>
                <a:latin typeface="Calibri"/>
              </a:rPr>
              <a:t>TripPlanner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058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BD5E1"/>
                </a:solidFill>
                <a:latin typeface="Calibri"/>
              </a:rPr>
              <a:t>Социальный планировщик путешествий</a:t>
            </a:r>
          </a:p>
          <a:p>
            <a:pPr algn="l">
              <a:lnSpc>
                <a:spcPct val="125000"/>
              </a:lnSpc>
            </a:pPr>
            <a:r>
              <a:rPr sz="2600" b="0">
                <a:solidFill>
                  <a:srgbClr val="CBD5E1"/>
                </a:solidFill>
                <a:latin typeface="Calibri"/>
              </a:rPr>
              <a:t>с интерактивной картой и REST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12064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Автор: Роман Тодор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4A3B8"/>
                </a:solidFill>
                <a:latin typeface="Calibri"/>
              </a:rPr>
              <a:t>Итоговый проект курса «Основы промышленного программирования»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97316"/>
                </a:solidFill>
                <a:latin typeface="Calibri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480" y="50292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172A"/>
                </a:solidFill>
                <a:latin typeface="Calibri"/>
              </a:rPr>
              <a:t>Идея и проблема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08813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858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Планировать поездку — больно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6858000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Маршруты разбросаны по заметкам и скриншотам.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Бюджет считается «на салфетке».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600" b="0">
                <a:solidFill>
                  <a:srgbClr val="0F172A"/>
                </a:solidFill>
                <a:latin typeface="Calibri"/>
              </a:rPr>
              <a:t>Поделиться удобной картой с друзьями — отдельный квест.</a:t>
            </a:r>
          </a:p>
          <a:p>
            <a:pPr algn="l">
              <a:lnSpc>
                <a:spcPct val="120000"/>
              </a:lnSpc>
            </a:pPr>
            <a:r>
              <a:rPr sz="1600" b="0">
                <a:solidFill>
                  <a:srgbClr val="0F172A"/>
                </a:solidFill>
                <a:latin typeface="Calibri"/>
              </a:rPr>
              <a:t>Готовые сервисы либо платные, либо привязаны к экосистеме (Google Maps, Booking).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1554480"/>
            <a:ext cx="3657600" cy="4114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828800"/>
            <a:ext cx="32918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CBD5E1"/>
                </a:solidFill>
                <a:latin typeface="Calibri"/>
              </a:rPr>
              <a:t>ЦЕЛЬ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377440"/>
            <a:ext cx="329184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Один сервис,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где маршрут,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бюджет и социалка</a:t>
            </a:r>
          </a:p>
          <a:p>
            <a:pPr algn="l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живут вместе.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TripPlanner · защита проекта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97316"/>
                </a:solidFill>
                <a:latin typeface="Calibri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480" y="50292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172A"/>
                </a:solidFill>
                <a:latin typeface="Calibri"/>
              </a:rPr>
              <a:t>Что умеет приложение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08813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563E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9164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Calibri"/>
              </a:rPr>
              <a:t>Аккаунты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4748B"/>
                </a:solidFill>
                <a:latin typeface="Calibri"/>
              </a:rPr>
              <a:t>Регистрация, хэширование паролей, профили с аватарами.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5544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563EB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169164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Calibri"/>
              </a:rPr>
              <a:t>Поездки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194560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4748B"/>
                </a:solidFill>
                <a:latin typeface="Calibri"/>
              </a:rPr>
              <a:t>Создание, редактирование, теги, обложки, флаг публичности.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6916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563EB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169164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Calibri"/>
              </a:rPr>
              <a:t>Маршрут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194560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4748B"/>
                </a:solidFill>
                <a:latin typeface="Calibri"/>
              </a:rPr>
              <a:t>Интерактивная карта Leaflet, точки по дням, 6 категорий.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1546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918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563EB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9184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Calibri"/>
              </a:rPr>
              <a:t>Геокодер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794760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4748B"/>
                </a:solidFill>
                <a:latin typeface="Calibri"/>
              </a:rPr>
              <a:t>Авто-поиск координат адреса через Nominatim (сторонний API).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1546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2918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563EB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29184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Calibri"/>
              </a:rPr>
              <a:t>Бюджет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3794760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4748B"/>
                </a:solidFill>
                <a:latin typeface="Calibri"/>
              </a:rPr>
              <a:t>Расходы по 6 категориям, сводка, индикатор перерасхода.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31546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329184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2563EB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3291840"/>
            <a:ext cx="27432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Calibri"/>
              </a:rPr>
              <a:t>Социалка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794760"/>
            <a:ext cx="32918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4748B"/>
                </a:solidFill>
                <a:latin typeface="Calibri"/>
              </a:rPr>
              <a:t>Лайки (AJAX), комментарии, explore с поиском и пагинацией.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983480"/>
            <a:ext cx="11247120" cy="9144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1206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Полноценный продукт, а не учебная заготовка: каждая функция доступна и через UI, и через REST API.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TripPlanner · защита проекта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97316"/>
                </a:solidFill>
                <a:latin typeface="Calibr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480" y="50292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172A"/>
                </a:solidFill>
                <a:latin typeface="Calibri"/>
              </a:rPr>
              <a:t>Сценарий пользователя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08813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93876" y="1828800"/>
            <a:ext cx="640080" cy="6400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3876" y="182880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" y="24231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" y="2743200"/>
            <a:ext cx="18288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Calibri"/>
              </a:rPr>
              <a:t>Регистрация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" y="3566160"/>
            <a:ext cx="18288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Логин, email,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хэш пароля</a:t>
            </a:r>
          </a:p>
        </p:txBody>
      </p:sp>
      <p:sp>
        <p:nvSpPr>
          <p:cNvPr id="10" name="Oval 9"/>
          <p:cNvSpPr/>
          <p:nvPr/>
        </p:nvSpPr>
        <p:spPr>
          <a:xfrm>
            <a:off x="3534156" y="1828800"/>
            <a:ext cx="640080" cy="6400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4156" y="182880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48356" y="24231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39796" y="2743200"/>
            <a:ext cx="18288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Calibri"/>
              </a:rPr>
              <a:t>Создание</a:t>
            </a:r>
          </a:p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Calibri"/>
              </a:rPr>
              <a:t>поездки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9796" y="3566160"/>
            <a:ext cx="18288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Название, даты,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бюджет, теги</a:t>
            </a:r>
          </a:p>
        </p:txBody>
      </p:sp>
      <p:sp>
        <p:nvSpPr>
          <p:cNvPr id="15" name="Oval 14"/>
          <p:cNvSpPr/>
          <p:nvPr/>
        </p:nvSpPr>
        <p:spPr>
          <a:xfrm>
            <a:off x="5774436" y="1828800"/>
            <a:ext cx="640080" cy="640080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74436" y="182880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88636" y="24231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0076" y="2743200"/>
            <a:ext cx="18288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Calibri"/>
              </a:rPr>
              <a:t>Точки</a:t>
            </a:r>
          </a:p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Calibri"/>
              </a:rPr>
              <a:t>на карте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80076" y="3566160"/>
            <a:ext cx="18288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Geocoder или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клик по карте</a:t>
            </a:r>
          </a:p>
        </p:txBody>
      </p:sp>
      <p:sp>
        <p:nvSpPr>
          <p:cNvPr id="20" name="Oval 19"/>
          <p:cNvSpPr/>
          <p:nvPr/>
        </p:nvSpPr>
        <p:spPr>
          <a:xfrm>
            <a:off x="8014716" y="1828800"/>
            <a:ext cx="640080" cy="6400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14716" y="182880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8916" y="24231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0356" y="2743200"/>
            <a:ext cx="18288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Calibri"/>
              </a:rPr>
              <a:t>Учёт</a:t>
            </a:r>
          </a:p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Calibri"/>
              </a:rPr>
              <a:t>бюджета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0356" y="3566160"/>
            <a:ext cx="18288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Категории трат,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сводка</a:t>
            </a:r>
          </a:p>
        </p:txBody>
      </p:sp>
      <p:sp>
        <p:nvSpPr>
          <p:cNvPr id="25" name="Oval 24"/>
          <p:cNvSpPr/>
          <p:nvPr/>
        </p:nvSpPr>
        <p:spPr>
          <a:xfrm>
            <a:off x="10254996" y="1828800"/>
            <a:ext cx="640080" cy="6400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54996" y="1828800"/>
            <a:ext cx="6400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69196" y="24231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60636" y="2743200"/>
            <a:ext cx="18288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Calibri"/>
              </a:rPr>
              <a:t>Публикация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60636" y="3566160"/>
            <a:ext cx="18288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Лайки,</a:t>
            </a:r>
          </a:p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комментарии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От пустого аккаунта до публикации маршрута — 5–7 минут.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TripPlanner · защита проекта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97316"/>
                </a:solidFill>
                <a:latin typeface="Calibri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480" y="50292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172A"/>
                </a:solidFill>
                <a:latin typeface="Calibri"/>
              </a:rPr>
              <a:t>Архитектура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08813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7315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Calibri"/>
              </a:rPr>
              <a:t>Слойная архитектура · фабрика приложения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6583680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Представление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6035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2E8F0"/>
                </a:solidFill>
                <a:latin typeface="Calibri"/>
              </a:rPr>
              <a:t>templates/  ·  static/  ·  Jinja2  ·  Bootstrap 5  ·  Leaflet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08960"/>
            <a:ext cx="6583680" cy="86868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18688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Контроллеры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566160"/>
            <a:ext cx="6035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2E8F0"/>
                </a:solidFill>
                <a:latin typeface="Calibri"/>
              </a:rPr>
              <a:t>main.py (Flask routes)  +  api/* (Flask-RESTful)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14800"/>
            <a:ext cx="6583680" cy="8686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24528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Бизнес-логика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72000"/>
            <a:ext cx="6035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2E8F0"/>
                </a:solidFill>
                <a:latin typeface="Calibri"/>
              </a:rPr>
              <a:t>forms/  (WTForms)   tools/  (helpers, geocoder)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120640"/>
            <a:ext cx="6583680" cy="868680"/>
          </a:xfrm>
          <a:prstGeom prst="rect">
            <a:avLst/>
          </a:prstGeom>
          <a:solidFill>
            <a:srgbClr val="4C1D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30368"/>
            <a:ext cx="2286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Данные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577840"/>
            <a:ext cx="6035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2E8F0"/>
                </a:solidFill>
                <a:latin typeface="Calibri"/>
              </a:rPr>
              <a:t>data/  ·  SQLAlchemy 2.0  ·  PostgreSQL / SQLite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2103120"/>
            <a:ext cx="41148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224028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97316"/>
                </a:solidFill>
                <a:latin typeface="Calibri"/>
              </a:rPr>
              <a:t>ПРИНЦИПЫ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06040"/>
            <a:ext cx="3657600" cy="36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Фабрика create_app()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Изоляция dev / prod, удобно для тестов.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Слой данных независим от Flask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Модели работают в сидере и CLI без HTTP.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Единая конфигурация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Все константы — в config.py + ENV.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Переиспользуемые шаблоны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Calibri"/>
              </a:rPr>
              <a:t>_card.html включается в 4 экранах.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TripPlanner · защита проекта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97316"/>
                </a:solidFill>
                <a:latin typeface="Calibri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480" y="50292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172A"/>
                </a:solidFill>
                <a:latin typeface="Calibri"/>
              </a:rPr>
              <a:t>Модель данных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08813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4748B"/>
                </a:solidFill>
                <a:latin typeface="Calibri"/>
              </a:rPr>
              <a:t>7 ORM-моделей · one-to-many и many-to-many · UNIQUE на лайках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201168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2011680" cy="320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1343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username · email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password_hash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about · avatar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286000"/>
            <a:ext cx="201168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2286000"/>
            <a:ext cx="2011680" cy="3200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60" y="231343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Trip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65176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title · destination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start/end · budget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is_public · tags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2286000"/>
            <a:ext cx="201168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2286000"/>
            <a:ext cx="2011680" cy="320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39" y="231343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39" y="265176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name · kind · day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latitude · longitude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order_index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286000"/>
            <a:ext cx="201168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4080" y="2286000"/>
            <a:ext cx="2011680" cy="320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231343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Expense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265176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category · amount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currency · spent_at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4023360"/>
            <a:ext cx="201168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0" y="4023360"/>
            <a:ext cx="2011680" cy="3200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51960" y="405079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Comment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438912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content · created_at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FK Trip + FK User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023360"/>
            <a:ext cx="201168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4023360"/>
            <a:ext cx="2011680" cy="3200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405079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Like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38912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FK Trip + FK User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UNIQUE constraint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4023360"/>
            <a:ext cx="201168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86800" y="4023360"/>
            <a:ext cx="2011680" cy="32004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23960" y="405079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Tag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60" y="4389120"/>
            <a:ext cx="1828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name · slug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M2M ↔ Trip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212080"/>
            <a:ext cx="10972800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321808"/>
            <a:ext cx="106984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Все модели наследуются от SerializerMixin → единый формат to_dict() для REST API. Каскадное удаление сохраняет целостность данных.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TripPlanner · защита проекта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97316"/>
                </a:solidFill>
                <a:latin typeface="Calibr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480" y="50292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172A"/>
                </a:solidFill>
                <a:latin typeface="Calibri"/>
              </a:rPr>
              <a:t>Технологии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08813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657600" cy="4389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3657600" cy="5486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64208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423160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Python 3.12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880360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889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Flask 2.3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337560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461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SQLAlchemy 2.0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794760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7033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Flask-Login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251960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1605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Flask-WTF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709160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6177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Flask-RESTful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5166360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0749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Werkzeug security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1554480"/>
            <a:ext cx="3657600" cy="4389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1554480"/>
            <a:ext cx="3657600" cy="5486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0" y="1664208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0" y="2423160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0" y="23317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Jinja2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0" y="2880360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27889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Bootstrap 5.3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0" y="3337560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32461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Bootstrap Icons</a:t>
            </a:r>
          </a:p>
        </p:txBody>
      </p:sp>
      <p:sp>
        <p:nvSpPr>
          <p:cNvPr id="31" name="Oval 30"/>
          <p:cNvSpPr/>
          <p:nvPr/>
        </p:nvSpPr>
        <p:spPr>
          <a:xfrm>
            <a:off x="4572000" y="3794760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0" y="37033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Leaflet 1.9</a:t>
            </a:r>
          </a:p>
        </p:txBody>
      </p:sp>
      <p:sp>
        <p:nvSpPr>
          <p:cNvPr id="33" name="Oval 32"/>
          <p:cNvSpPr/>
          <p:nvPr/>
        </p:nvSpPr>
        <p:spPr>
          <a:xfrm>
            <a:off x="4572000" y="4251960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46320" y="41605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OpenStreetMap</a:t>
            </a:r>
          </a:p>
        </p:txBody>
      </p:sp>
      <p:sp>
        <p:nvSpPr>
          <p:cNvPr id="35" name="Oval 34"/>
          <p:cNvSpPr/>
          <p:nvPr/>
        </p:nvSpPr>
        <p:spPr>
          <a:xfrm>
            <a:off x="4572000" y="4709160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0" y="46177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AJAX (fetch API)</a:t>
            </a:r>
          </a:p>
        </p:txBody>
      </p:sp>
      <p:sp>
        <p:nvSpPr>
          <p:cNvPr id="37" name="Oval 36"/>
          <p:cNvSpPr/>
          <p:nvPr/>
        </p:nvSpPr>
        <p:spPr>
          <a:xfrm>
            <a:off x="4572000" y="5166360"/>
            <a:ext cx="164592" cy="1645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50749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Адаптивная вёрстка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38160" y="1554480"/>
            <a:ext cx="3657600" cy="4389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38160" y="1554480"/>
            <a:ext cx="3657600" cy="54864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1664208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Данные · DevOps</a:t>
            </a:r>
          </a:p>
        </p:txBody>
      </p:sp>
      <p:sp>
        <p:nvSpPr>
          <p:cNvPr id="42" name="Oval 41"/>
          <p:cNvSpPr/>
          <p:nvPr/>
        </p:nvSpPr>
        <p:spPr>
          <a:xfrm>
            <a:off x="8412480" y="2423160"/>
            <a:ext cx="164592" cy="164592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23317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SQLite (dev)</a:t>
            </a:r>
          </a:p>
        </p:txBody>
      </p:sp>
      <p:sp>
        <p:nvSpPr>
          <p:cNvPr id="44" name="Oval 43"/>
          <p:cNvSpPr/>
          <p:nvPr/>
        </p:nvSpPr>
        <p:spPr>
          <a:xfrm>
            <a:off x="8412480" y="2880360"/>
            <a:ext cx="164592" cy="164592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0" y="27889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PostgreSQL (prod)</a:t>
            </a:r>
          </a:p>
        </p:txBody>
      </p:sp>
      <p:sp>
        <p:nvSpPr>
          <p:cNvPr id="46" name="Oval 45"/>
          <p:cNvSpPr/>
          <p:nvPr/>
        </p:nvSpPr>
        <p:spPr>
          <a:xfrm>
            <a:off x="8412480" y="3337560"/>
            <a:ext cx="164592" cy="164592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32461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sqlalchemy-serializer</a:t>
            </a:r>
          </a:p>
        </p:txBody>
      </p:sp>
      <p:sp>
        <p:nvSpPr>
          <p:cNvPr id="48" name="Oval 47"/>
          <p:cNvSpPr/>
          <p:nvPr/>
        </p:nvSpPr>
        <p:spPr>
          <a:xfrm>
            <a:off x="8412480" y="3794760"/>
            <a:ext cx="164592" cy="164592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0" y="37033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Nominatim API</a:t>
            </a:r>
          </a:p>
        </p:txBody>
      </p:sp>
      <p:sp>
        <p:nvSpPr>
          <p:cNvPr id="50" name="Oval 49"/>
          <p:cNvSpPr/>
          <p:nvPr/>
        </p:nvSpPr>
        <p:spPr>
          <a:xfrm>
            <a:off x="8412480" y="4251960"/>
            <a:ext cx="164592" cy="164592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0" y="41605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gunicorn (WSGI)</a:t>
            </a:r>
          </a:p>
        </p:txBody>
      </p:sp>
      <p:sp>
        <p:nvSpPr>
          <p:cNvPr id="52" name="Oval 51"/>
          <p:cNvSpPr/>
          <p:nvPr/>
        </p:nvSpPr>
        <p:spPr>
          <a:xfrm>
            <a:off x="8412480" y="4709160"/>
            <a:ext cx="164592" cy="164592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0" y="46177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Render.com</a:t>
            </a:r>
          </a:p>
        </p:txBody>
      </p:sp>
      <p:sp>
        <p:nvSpPr>
          <p:cNvPr id="54" name="Oval 53"/>
          <p:cNvSpPr/>
          <p:nvPr/>
        </p:nvSpPr>
        <p:spPr>
          <a:xfrm>
            <a:off x="8412480" y="5166360"/>
            <a:ext cx="164592" cy="164592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86800" y="507492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Calibri"/>
              </a:rPr>
              <a:t>GitHub + git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6035040"/>
            <a:ext cx="1124712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6089904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✓ Все технологии модуля закрыты: requirements.txt · Bootstrap · ORM · auth · файлы · REST · сторонний API · БД · хостинг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TripPlanner · защита проекта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97316"/>
                </a:solidFill>
                <a:latin typeface="Calibri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480" y="50292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172A"/>
                </a:solidFill>
                <a:latin typeface="Calibri"/>
              </a:rPr>
              <a:t>REST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08813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Calibri"/>
              </a:rPr>
              <a:t>14 эндпоинтов, единый формат ответа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39696"/>
            <a:ext cx="777240" cy="29260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39696"/>
            <a:ext cx="77724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21408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Consolas"/>
              </a:rPr>
              <a:t>/api/trips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121408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список публичных поездок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32888"/>
            <a:ext cx="777240" cy="2926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32888"/>
            <a:ext cx="77724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1460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Consolas"/>
              </a:rPr>
              <a:t>/api/trips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51460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создать поездку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777240" cy="29260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926080"/>
            <a:ext cx="77724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907792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Consolas"/>
              </a:rPr>
              <a:t>/api/trips/&lt;id&gt;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07792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детали + точки и расходы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19272"/>
            <a:ext cx="777240" cy="29260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319272"/>
            <a:ext cx="77724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300984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Consolas"/>
              </a:rPr>
              <a:t>/api/trips/&lt;id&gt;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3300984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обновить (владелец)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712464"/>
            <a:ext cx="777240" cy="29260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12464"/>
            <a:ext cx="77724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DELETE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694176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Consolas"/>
              </a:rPr>
              <a:t>/api/trips/&lt;id&gt;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3694176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удалить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105656"/>
            <a:ext cx="777240" cy="29260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105656"/>
            <a:ext cx="77724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087368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Consolas"/>
              </a:rPr>
              <a:t>/api/trips/&lt;id&gt;/places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4087368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точки маршрута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98848"/>
            <a:ext cx="777240" cy="2926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498848"/>
            <a:ext cx="77724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48056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Consolas"/>
              </a:rPr>
              <a:t>/api/trips/&lt;id&gt;/places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0" y="4480560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добавить точку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892040"/>
            <a:ext cx="777240" cy="29260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892040"/>
            <a:ext cx="77724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4873752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Consolas"/>
              </a:rPr>
              <a:t>/api/trips/&lt;id&gt;/expenses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0" y="4873752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расходы и сводка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5285232"/>
            <a:ext cx="777240" cy="29260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285232"/>
            <a:ext cx="77724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5266944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Consolas"/>
              </a:rPr>
              <a:t>/api/users/&lt;id&gt;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0" y="5266944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профиль + публичные поездки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678424"/>
            <a:ext cx="777240" cy="29260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678424"/>
            <a:ext cx="777240" cy="2926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54480" y="5660136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Consolas"/>
              </a:rPr>
              <a:t>/api/geocode?address=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5660136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Nominatim прокси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80960" y="1554480"/>
            <a:ext cx="4114800" cy="4572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CBD5E1"/>
                </a:solidFill>
                <a:latin typeface="Consolas"/>
              </a:rPr>
              <a:t>GET /api/trips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09560" y="2103120"/>
            <a:ext cx="3657600" cy="3931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  "success": true,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  "total": 3,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  "limit": 20,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  "trips": [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    {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      "id": 2,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      "title": "Гастротур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         по Тбилиси",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      "duration_days": 6,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      "likes_count": 1,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      "places_count": 4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    }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  ]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}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TripPlanner · защита проекта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97316"/>
                </a:solidFill>
                <a:latin typeface="Calibri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480" y="50292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172A"/>
                </a:solidFill>
                <a:latin typeface="Calibri"/>
              </a:rPr>
              <a:t>Технические находки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08813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09728" cy="2103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Calibri"/>
              </a:rPr>
              <a:t>Карта Leaflet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320040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Calibri"/>
              </a:rPr>
              <a:t>Цветные маркеры + линия маршрута по дням, выбор точек кликом.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55448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60" y="1554480"/>
            <a:ext cx="109728" cy="21031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73736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Calibri"/>
              </a:rPr>
              <a:t>Геокодер Nominatim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31720"/>
            <a:ext cx="320040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Calibri"/>
              </a:rPr>
              <a:t>Серверный proxy с собственным User-Agent и обработкой ошибок сети.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55448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554480"/>
            <a:ext cx="109728" cy="2103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73736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Calibri"/>
              </a:rPr>
              <a:t>AJAX-лайки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331720"/>
            <a:ext cx="320040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Calibri"/>
              </a:rPr>
              <a:t>Кнопка обновляет счётчик через fetch без перезагрузки страницы.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8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109728" cy="21031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02336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Calibri"/>
              </a:rPr>
              <a:t>Авто-сидинг БД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617720"/>
            <a:ext cx="320040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Calibri"/>
              </a:rPr>
              <a:t>При старте на пустой БД сам создаёт демо-данные (нужно для бесплатного Render без Shell).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84048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60" y="3840480"/>
            <a:ext cx="109728" cy="2103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402336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Calibri"/>
              </a:rPr>
              <a:t>Multi-уровневые права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4617720"/>
            <a:ext cx="320040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Calibri"/>
              </a:rPr>
              <a:t>Trip.is_visible_to() / is_editable_by() — общий контракт для view и API.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3840480"/>
            <a:ext cx="3657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3840480"/>
            <a:ext cx="109728" cy="21031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0" y="402336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Calibri"/>
              </a:rPr>
              <a:t>One-click деплой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617720"/>
            <a:ext cx="320040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Calibri"/>
              </a:rPr>
              <a:t>render.yaml поднимает веб-сервис + PostgreSQL одной кнопкой.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TripPlanner · защита проекта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97316"/>
                </a:solidFill>
                <a:latin typeface="Calibri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480" y="50292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В цифрах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0881360" cy="18288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8056" y="237744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" y="2788920"/>
            <a:ext cx="26517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>
                <a:solidFill>
                  <a:srgbClr val="F97316"/>
                </a:solidFill>
                <a:latin typeface="Calibri"/>
              </a:rPr>
              <a:t>4 410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" y="406908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строк кода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452628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Python, HTML, CSS, JS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8416" y="237744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28416" y="2788920"/>
            <a:ext cx="26517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8416" y="406908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ORM-моделей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452628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со связями one-to-many и M2M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37744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6" y="2788920"/>
            <a:ext cx="26517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406908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REST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452628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endpoints в едином формате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89136" y="2377440"/>
            <a:ext cx="2651760" cy="27432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 w="12700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9136" y="2788920"/>
            <a:ext cx="26517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9136" y="406908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веб-маршрутов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72016" y="452628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Flask routes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CBD5E1"/>
                </a:solidFill>
                <a:latin typeface="Calibri"/>
              </a:rPr>
              <a:t>В критериях курса 500 строк дают 15 баллов. У нас — почти в 9 раз больше.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BD5E1"/>
                </a:solidFill>
                <a:latin typeface="Calibri"/>
              </a:rPr>
              <a:t>TripPlanner · защита проекта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CBD5E1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97316"/>
                </a:solidFill>
                <a:latin typeface="Calibr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480" y="502920"/>
            <a:ext cx="9144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F172A"/>
                </a:solidFill>
                <a:latin typeface="Calibri"/>
              </a:rPr>
              <a:t>Живое демо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08813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94360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164592" cy="4754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ОТКРОЙТЕ В БРАУЗЕРЕ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5486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F172A"/>
                </a:solidFill>
                <a:latin typeface="Consolas"/>
              </a:rPr>
              <a:t>tripplanner-17ou.onrender.com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Calibri"/>
              </a:rPr>
              <a:t>https://tripplanner-17ou.onrender.com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749039"/>
            <a:ext cx="5486400" cy="12801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BD5E1"/>
                </a:solidFill>
                <a:latin typeface="Calibri"/>
              </a:rPr>
              <a:t>ДЕМО-АККАУНТ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20624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Логин: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57200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Пароль: demo123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2120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Calibri"/>
              </a:rPr>
              <a:t>REST-проверка одним curl: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577840"/>
            <a:ext cx="5486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Consolas"/>
              </a:rPr>
              <a:t>curl https://tripplanner-17ou.onrender.com/api/trips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169164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Calibri"/>
              </a:rPr>
              <a:t>Что показать за 90 секунд</a:t>
            </a:r>
          </a:p>
        </p:txBody>
      </p:sp>
      <p:sp>
        <p:nvSpPr>
          <p:cNvPr id="17" name="Oval 16"/>
          <p:cNvSpPr/>
          <p:nvPr/>
        </p:nvSpPr>
        <p:spPr>
          <a:xfrm>
            <a:off x="6766560" y="22860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2286000"/>
            <a:ext cx="38404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2267712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Calibri"/>
              </a:rPr>
              <a:t>Explore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578608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Открыть каталог публичных поездок.</a:t>
            </a:r>
          </a:p>
        </p:txBody>
      </p:sp>
      <p:sp>
        <p:nvSpPr>
          <p:cNvPr id="21" name="Oval 20"/>
          <p:cNvSpPr/>
          <p:nvPr/>
        </p:nvSpPr>
        <p:spPr>
          <a:xfrm>
            <a:off x="6766560" y="29992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2999232"/>
            <a:ext cx="38404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980944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Calibri"/>
              </a:rPr>
              <a:t>Открыть «Гастротур по Тбилиси»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329184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Карта с маркерами, расписание по дням.</a:t>
            </a:r>
          </a:p>
        </p:txBody>
      </p:sp>
      <p:sp>
        <p:nvSpPr>
          <p:cNvPr id="25" name="Oval 24"/>
          <p:cNvSpPr/>
          <p:nvPr/>
        </p:nvSpPr>
        <p:spPr>
          <a:xfrm>
            <a:off x="6766560" y="371246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0" y="3712464"/>
            <a:ext cx="38404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694176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Calibri"/>
              </a:rPr>
              <a:t>Лайк без перезагрузки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40050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Кнопка обновляет счётчик через AJAX.</a:t>
            </a:r>
          </a:p>
        </p:txBody>
      </p:sp>
      <p:sp>
        <p:nvSpPr>
          <p:cNvPr id="29" name="Oval 28"/>
          <p:cNvSpPr/>
          <p:nvPr/>
        </p:nvSpPr>
        <p:spPr>
          <a:xfrm>
            <a:off x="6766560" y="44256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4425696"/>
            <a:ext cx="38404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4407408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Calibri"/>
              </a:rPr>
              <a:t>Войти как demo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4718304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Создать новую точку через геокодер «Эрмитаж».</a:t>
            </a:r>
          </a:p>
        </p:txBody>
      </p:sp>
      <p:sp>
        <p:nvSpPr>
          <p:cNvPr id="33" name="Oval 32"/>
          <p:cNvSpPr/>
          <p:nvPr/>
        </p:nvSpPr>
        <p:spPr>
          <a:xfrm>
            <a:off x="6766560" y="513892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0" y="5138928"/>
            <a:ext cx="38404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5120640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Calibri"/>
              </a:rPr>
              <a:t>API-демо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80" y="5431536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Calibri"/>
              </a:rPr>
              <a:t>Открыть /api/trips → показать чистый JSON.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TripPlanner · защита проекта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97316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Calibri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91840"/>
            <a:ext cx="5029200" cy="23774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3291840"/>
            <a:ext cx="109728" cy="2377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42900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63EB"/>
                </a:solidFill>
                <a:latin typeface="Calibri"/>
              </a:rPr>
              <a:t>САЙТ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79476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tripplanner-17ou.onrender.com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38912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563EB"/>
                </a:solidFill>
                <a:latin typeface="Calibri"/>
              </a:rPr>
              <a:t>РЕПОЗИТОРИЙ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75488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Consolas"/>
              </a:rPr>
              <a:t>github.com/rom0tod/travel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4924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demo / demo123 — для входа на сайт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91840"/>
            <a:ext cx="4846320" cy="2377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520440"/>
            <a:ext cx="4389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CBD5E1"/>
                </a:solidFill>
                <a:latin typeface="Calibri"/>
              </a:rPr>
              <a:t>В ОДНОМ ПРОЕКТЕ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886200"/>
            <a:ext cx="438912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Flask · ORM · auth · WTForms · REST · сторонний API · файлы · Bootstrap · Leaflet · Postgres · gunicorn · Render.com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1722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Calibri"/>
              </a:rPr>
              <a:t>Роман Тодор · Яндекс Лицей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